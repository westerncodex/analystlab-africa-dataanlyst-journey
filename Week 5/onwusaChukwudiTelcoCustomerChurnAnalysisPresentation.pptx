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67" r:id="rId6"/>
    <p:sldId id="268" r:id="rId7"/>
    <p:sldId id="269" r:id="rId8"/>
    <p:sldId id="270" r:id="rId9"/>
    <p:sldId id="263" r:id="rId10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3982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5763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4175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0430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00418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" name="Google Shape;15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9D9"/>
          </a:solidFill>
          <a:ln w="1270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7716E5-62C0-CFC3-5BD4-D36966C698DF}"/>
              </a:ext>
            </a:extLst>
          </p:cNvPr>
          <p:cNvSpPr txBox="1">
            <a:spLocks/>
          </p:cNvSpPr>
          <p:nvPr/>
        </p:nvSpPr>
        <p:spPr>
          <a:xfrm>
            <a:off x="641404" y="760876"/>
            <a:ext cx="11100021" cy="663396"/>
          </a:xfrm>
          <a:prstGeom prst="rect">
            <a:avLst/>
          </a:prstGeom>
        </p:spPr>
        <p:txBody>
          <a:bodyPr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TELCO CUSTOMER CHURN ANALYTICAL REPORT</a:t>
            </a:r>
            <a:endParaRPr lang="en-NG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8319D-ACF1-9EFB-0FB1-52E6722168E4}"/>
              </a:ext>
            </a:extLst>
          </p:cNvPr>
          <p:cNvSpPr txBox="1">
            <a:spLocks/>
          </p:cNvSpPr>
          <p:nvPr/>
        </p:nvSpPr>
        <p:spPr>
          <a:xfrm>
            <a:off x="1619414" y="1924296"/>
            <a:ext cx="9144000" cy="50878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WHY CUSTOMERS ARE LEAVING</a:t>
            </a:r>
            <a:endParaRPr lang="en-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D2EB206-F177-71C2-48D7-9F08B793534E}"/>
              </a:ext>
            </a:extLst>
          </p:cNvPr>
          <p:cNvSpPr txBox="1">
            <a:spLocks/>
          </p:cNvSpPr>
          <p:nvPr/>
        </p:nvSpPr>
        <p:spPr>
          <a:xfrm>
            <a:off x="1619414" y="4496669"/>
            <a:ext cx="9144000" cy="1488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 BI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 QUERY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DAX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EXCEL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Modeling</a:t>
            </a:r>
            <a:endParaRPr lang="en-NG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F33026A-0C2E-A6A8-7B76-9AF34925C707}"/>
              </a:ext>
            </a:extLst>
          </p:cNvPr>
          <p:cNvSpPr txBox="1">
            <a:spLocks/>
          </p:cNvSpPr>
          <p:nvPr/>
        </p:nvSpPr>
        <p:spPr>
          <a:xfrm>
            <a:off x="1619414" y="2490083"/>
            <a:ext cx="9144000" cy="1488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ONWUSA, CHUKWUDI</a:t>
            </a:r>
            <a:endParaRPr lang="en-NG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34" name="Google Shape;34;p4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4"/>
          <p:cNvSpPr/>
          <p:nvPr/>
        </p:nvSpPr>
        <p:spPr>
          <a:xfrm>
            <a:off x="777240" y="1508760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033272" y="1508760"/>
            <a:ext cx="56875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business is losing more than one in four customers, which can reduce revenue and weaken long-term growth.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2191789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33272" y="2188603"/>
            <a:ext cx="56875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main goal is to understand the common features of customers who leave the business.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98368" y="2779776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033272" y="2798064"/>
            <a:ext cx="5632704" cy="690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5"/>
              <a:buFont typeface="Cambria"/>
              <a:buNone/>
            </a:pPr>
            <a:r>
              <a:rPr lang="en-US" sz="1665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analysis focuses on factors such as customer tenure, contract type,  services, payment methods and others.</a:t>
            </a:r>
            <a:endParaRPr sz="1665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68373" y="3806535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mbria"/>
              <a:buNone/>
            </a:pP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7254240" y="3920835"/>
            <a:ext cx="4480560" cy="892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are customers leaving the company, and which factors contribute most to customer churn?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4EF7DB-6266-1C1B-D23A-51E726B58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038" y="1623060"/>
            <a:ext cx="3935125" cy="22978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DATASET OVERVIEW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51" name="Google Shape;51;p5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5"/>
          <p:cNvSpPr/>
          <p:nvPr/>
        </p:nvSpPr>
        <p:spPr>
          <a:xfrm>
            <a:off x="822960" y="3017520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966216" y="2460567"/>
            <a:ext cx="10259568" cy="3674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dataset consists of 7,043 unique customers record and 21 attributes</a:t>
            </a:r>
            <a:endParaRPr lang="en-US" sz="1750" dirty="0"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data includes attributes such as customer demography, account information, services used, and churn status.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churn status shows whether each customer stayed with the company or left.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dashboard was built to compare churn across these attributes to identify attrition caused, and predict behavior to retain customers.</a:t>
            </a:r>
            <a:endParaRPr lang="en-US"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>
              <a:buSzPts val="1750"/>
            </a:pPr>
            <a:endParaRPr lang="en-US"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22960" y="3456432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6E1566-C42E-5A2B-032B-976682BD7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387" y="1452000"/>
            <a:ext cx="10555173" cy="866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latin typeface="Cambria"/>
                <a:ea typeface="Cambria"/>
                <a:cs typeface="Cambria"/>
                <a:sym typeface="Cambria"/>
              </a:rPr>
              <a:t>DATA ANALYSIS PROCESS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51" name="Google Shape;51;p5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5"/>
          <p:cNvSpPr/>
          <p:nvPr/>
        </p:nvSpPr>
        <p:spPr>
          <a:xfrm>
            <a:off x="822960" y="3017520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22960" y="3456432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9AB71-7813-B898-7668-7749A86D21AB}"/>
              </a:ext>
            </a:extLst>
          </p:cNvPr>
          <p:cNvSpPr txBox="1"/>
          <p:nvPr/>
        </p:nvSpPr>
        <p:spPr>
          <a:xfrm>
            <a:off x="502920" y="1170432"/>
            <a:ext cx="1118616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analysis followed these stages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definition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identified the real business problem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Imported the IBM Telco Churn Dataset from Kaggle.com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Preparation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Removed for duplicates and outliers, handled missing values, standardized formats and datatypes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Did some EDA to understand the structure, modeled the table properly. These were accomplished with Excel.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Created calculated columns and measures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  <a:endParaRPr lang="en-NG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9126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OVERVIEW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 churn rate is 26.54% that is 5,174 active customers compared to initial 7,043. Which also means that more than 1 out of every customer signed up customer churns.</a:t>
            </a: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customers in the first 12 months who signed a contract of &lt;= 1 year  leave most often.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check users are at high-risk to churn easily.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832636-CCEF-25D7-0A00-87838A5B5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65678"/>
            <a:ext cx="6964741" cy="391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906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</a:t>
            </a:r>
            <a:r>
              <a:rPr lang="en-US" sz="2800" b="1" dirty="0">
                <a:latin typeface="Cambria"/>
                <a:ea typeface="Cambria"/>
                <a:cs typeface="Cambria"/>
                <a:sym typeface="Cambria"/>
              </a:rPr>
              <a:t>SERVICES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Cambria"/>
                <a:ea typeface="Cambria"/>
                <a:cs typeface="Cambria"/>
                <a:sym typeface="Cambria"/>
              </a:rPr>
              <a:t>Customers without tech support make up the largest share of churned customers.</a:t>
            </a:r>
          </a:p>
          <a:p>
            <a:endParaRPr lang="en-US" sz="1800" dirty="0">
              <a:solidFill>
                <a:schemeClr val="tx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Fiber optic customers have the highest churn among internet service groups.</a:t>
            </a:r>
            <a:endParaRPr lang="en-US" sz="1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Cambria"/>
                <a:ea typeface="Cambria"/>
                <a:cs typeface="Cambria"/>
                <a:sym typeface="Cambria"/>
              </a:rPr>
              <a:t>Customers without Online security services has a higher churn rate (1,461 to 295)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781F3A-B6D8-3A25-3507-9D24AE1FD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65678"/>
            <a:ext cx="6900022" cy="387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183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DEMOGRAPHY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Average monthly charge for churn was $74.44 was higher than retained $61.27.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Customers who has no dependent(s) churn higher 31.28% compared to those with dependent(s) 15.45%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Female customers churn at a higher rate of 50.72% than male customers 49.38%.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Unmarried customers churn at a higher rate</a:t>
            </a: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4D424C-5E09-CA4E-1362-C5CD18A7C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7" y="1465678"/>
            <a:ext cx="7014695" cy="394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278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Recommendations</a:t>
            </a:r>
            <a:endParaRPr sz="2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135" name="Google Shape;135;p9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 3">
            <a:extLst>
              <a:ext uri="{FF2B5EF4-FFF2-40B4-BE49-F238E27FC236}">
                <a16:creationId xmlns:a16="http://schemas.microsoft.com/office/drawing/2014/main" id="{6D2DC43B-89EF-5499-19EE-58DA917A39D4}"/>
              </a:ext>
            </a:extLst>
          </p:cNvPr>
          <p:cNvSpPr/>
          <p:nvPr/>
        </p:nvSpPr>
        <p:spPr>
          <a:xfrm>
            <a:off x="502920" y="1440397"/>
            <a:ext cx="10086703" cy="47949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Encourage Long-Term Contracts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Improve Customer Value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Promote Support Services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Focus on New Customers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Develop Targeted Retention Campaigns</a:t>
            </a:r>
            <a:endParaRPr lang="en-NG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982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sz="2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155" name="Google Shape;155;p10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p10"/>
          <p:cNvSpPr/>
          <p:nvPr/>
        </p:nvSpPr>
        <p:spPr>
          <a:xfrm>
            <a:off x="502920" y="1680755"/>
            <a:ext cx="7482840" cy="4224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>
              <a:lnSpc>
                <a:spcPct val="90000"/>
              </a:lnSpc>
              <a:buSzPts val="1800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NG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ustomer</a:t>
            </a: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churn is affected by contract type, monthly charges, service usage, and customer demographics.</a:t>
            </a:r>
            <a:endParaRPr lang="en-NG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retention campaigns around contract upgrades, first-year support, pricing reviews, and better service help.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Targeted action can reduce avoidable customer loss and protect recurring revenue.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endParaRPr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512</Words>
  <Application>Microsoft Office PowerPoint</Application>
  <PresentationFormat>Widescreen</PresentationFormat>
  <Paragraphs>91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Chukwudi Onwusa</cp:lastModifiedBy>
  <cp:revision>51</cp:revision>
  <dcterms:modified xsi:type="dcterms:W3CDTF">2026-06-09T18:19:29Z</dcterms:modified>
</cp:coreProperties>
</file>