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9" r:id="rId1"/>
  </p:sldMasterIdLst>
  <p:notesMasterIdLst>
    <p:notesMasterId r:id="rId10"/>
  </p:notesMasterIdLst>
  <p:sldIdLst>
    <p:sldId id="256" r:id="rId2"/>
    <p:sldId id="257" r:id="rId3"/>
    <p:sldId id="258" r:id="rId4"/>
    <p:sldId id="267" r:id="rId5"/>
    <p:sldId id="268" r:id="rId6"/>
    <p:sldId id="269" r:id="rId7"/>
    <p:sldId id="270" r:id="rId8"/>
    <p:sldId id="263" r:id="rId9"/>
  </p:sldIdLst>
  <p:sldSz cx="12192000" cy="6858000"/>
  <p:notesSz cx="6858000" cy="12192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914400"/>
            <a:ext cx="4572225" cy="4572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" name="Google Shape;30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" name="Google Shape;46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4" name="Google Shape;74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57638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4" name="Google Shape;74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141758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4" name="Google Shape;74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904303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0" name="Google Shape;130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000418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0" name="Google Shape;150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9D9"/>
          </a:solidFill>
          <a:ln w="12700" cap="flat" cmpd="sng">
            <a:solidFill>
              <a:srgbClr val="2F6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7716E5-62C0-CFC3-5BD4-D36966C698DF}"/>
              </a:ext>
            </a:extLst>
          </p:cNvPr>
          <p:cNvSpPr txBox="1">
            <a:spLocks/>
          </p:cNvSpPr>
          <p:nvPr/>
        </p:nvSpPr>
        <p:spPr>
          <a:xfrm>
            <a:off x="641404" y="760876"/>
            <a:ext cx="11100021" cy="663396"/>
          </a:xfrm>
          <a:prstGeom prst="rect">
            <a:avLst/>
          </a:prstGeom>
        </p:spPr>
        <p:txBody>
          <a:bodyPr>
            <a:normAutofit fontScale="9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3600" b="1">
                <a:latin typeface="Times New Roman" panose="02020603050405020304" pitchFamily="18" charset="0"/>
                <a:cs typeface="Times New Roman" panose="02020603050405020304" pitchFamily="18" charset="0"/>
              </a:rPr>
              <a:t>TELCO CUSTOMER CHURN ANALYTICAL REPORT</a:t>
            </a:r>
            <a:endParaRPr lang="en-NG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28319D-ACF1-9EFB-0FB1-52E6722168E4}"/>
              </a:ext>
            </a:extLst>
          </p:cNvPr>
          <p:cNvSpPr txBox="1">
            <a:spLocks/>
          </p:cNvSpPr>
          <p:nvPr/>
        </p:nvSpPr>
        <p:spPr>
          <a:xfrm>
            <a:off x="1619414" y="1924296"/>
            <a:ext cx="9144000" cy="508786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WHY CUSTOMERS ARE LEAVING</a:t>
            </a:r>
            <a:endParaRPr lang="en-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D2EB206-F177-71C2-48D7-9F08B793534E}"/>
              </a:ext>
            </a:extLst>
          </p:cNvPr>
          <p:cNvSpPr txBox="1">
            <a:spLocks/>
          </p:cNvSpPr>
          <p:nvPr/>
        </p:nvSpPr>
        <p:spPr>
          <a:xfrm>
            <a:off x="1619414" y="4496669"/>
            <a:ext cx="9144000" cy="1488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USED</a:t>
            </a:r>
          </a:p>
          <a:p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POWER BI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|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POWER QUERY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|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DAX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|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EXCEL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|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Modeling</a:t>
            </a:r>
            <a:endParaRPr lang="en-NG" sz="1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BF33026A-0C2E-A6A8-7B76-9AF34925C707}"/>
              </a:ext>
            </a:extLst>
          </p:cNvPr>
          <p:cNvSpPr txBox="1">
            <a:spLocks/>
          </p:cNvSpPr>
          <p:nvPr/>
        </p:nvSpPr>
        <p:spPr>
          <a:xfrm>
            <a:off x="1619414" y="2490083"/>
            <a:ext cx="9144000" cy="1488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PREPARED BY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ONWUSA, CHUKWUDI</a:t>
            </a:r>
            <a:endParaRPr lang="en-NG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"/>
          <p:cNvSpPr/>
          <p:nvPr/>
        </p:nvSpPr>
        <p:spPr>
          <a:xfrm>
            <a:off x="502920" y="320040"/>
            <a:ext cx="111556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28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PROBLEM STATEMENT</a:t>
            </a:r>
            <a:endParaRPr sz="2800" dirty="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cxnSp>
        <p:nvCxnSpPr>
          <p:cNvPr id="34" name="Google Shape;34;p4"/>
          <p:cNvCxnSpPr/>
          <p:nvPr/>
        </p:nvCxnSpPr>
        <p:spPr>
          <a:xfrm>
            <a:off x="502920" y="1170432"/>
            <a:ext cx="11155680" cy="0"/>
          </a:xfrm>
          <a:prstGeom prst="straightConnector1">
            <a:avLst/>
          </a:prstGeom>
          <a:noFill/>
          <a:ln w="19050" cap="flat" cmpd="sng">
            <a:solidFill>
              <a:srgbClr val="2F6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" name="Google Shape;35;p4"/>
          <p:cNvSpPr/>
          <p:nvPr/>
        </p:nvSpPr>
        <p:spPr>
          <a:xfrm>
            <a:off x="777240" y="1508760"/>
            <a:ext cx="20116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mbria"/>
              <a:buNone/>
            </a:pPr>
            <a:r>
              <a:rPr lang="en-US" sz="18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•</a:t>
            </a:r>
            <a:endParaRPr sz="180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1033272" y="1508760"/>
            <a:ext cx="568756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5" tIns="125" rIns="125" bIns="1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mbria"/>
              <a:buNone/>
            </a:pPr>
            <a:r>
              <a:rPr lang="en-US" sz="18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The business is losing more than one in four customers, which can reduce revenue and weaken long-term growth.</a:t>
            </a:r>
            <a:endParaRPr sz="180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777240" y="2191789"/>
            <a:ext cx="20116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mbria"/>
              <a:buNone/>
            </a:pPr>
            <a:r>
              <a:rPr lang="en-US" sz="18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•</a:t>
            </a:r>
            <a:endParaRPr sz="180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1033272" y="2188603"/>
            <a:ext cx="568756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5" tIns="125" rIns="125" bIns="125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mbria"/>
              <a:buNone/>
            </a:pPr>
            <a:r>
              <a:rPr lang="en-US" sz="18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The main goal is to understand the common features of customers who leave the business.</a:t>
            </a:r>
            <a:endParaRPr sz="180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798368" y="2779776"/>
            <a:ext cx="20116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mbria"/>
              <a:buNone/>
            </a:pPr>
            <a:r>
              <a:rPr lang="en-US" sz="18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•</a:t>
            </a:r>
            <a:endParaRPr sz="180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1033272" y="2798064"/>
            <a:ext cx="5632704" cy="690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5" tIns="125" rIns="125" bIns="125" anchor="ctr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65"/>
              <a:buFont typeface="Cambria"/>
              <a:buNone/>
            </a:pPr>
            <a:r>
              <a:rPr lang="en-US" sz="1665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The analysis focuses on factors such as customer tenure, contract type,  services, payment methods and others.</a:t>
            </a:r>
            <a:endParaRPr sz="1665" dirty="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768373" y="3806535"/>
            <a:ext cx="20116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mbria"/>
              <a:buNone/>
            </a:pPr>
            <a:endParaRPr sz="180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7254240" y="3920835"/>
            <a:ext cx="4480560" cy="892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Why are customers leaving the company, and which factors contribute most to customer churn?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4EF7DB-6266-1C1B-D23A-51E726B589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6038" y="1623060"/>
            <a:ext cx="3935125" cy="229788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5"/>
          <p:cNvSpPr/>
          <p:nvPr/>
        </p:nvSpPr>
        <p:spPr>
          <a:xfrm>
            <a:off x="502920" y="320040"/>
            <a:ext cx="111556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28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DATASET OVERVIEW</a:t>
            </a:r>
            <a:endParaRPr sz="2800" dirty="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cxnSp>
        <p:nvCxnSpPr>
          <p:cNvPr id="51" name="Google Shape;51;p5"/>
          <p:cNvCxnSpPr/>
          <p:nvPr/>
        </p:nvCxnSpPr>
        <p:spPr>
          <a:xfrm>
            <a:off x="502920" y="1170432"/>
            <a:ext cx="11155680" cy="0"/>
          </a:xfrm>
          <a:prstGeom prst="straightConnector1">
            <a:avLst/>
          </a:prstGeom>
          <a:noFill/>
          <a:ln w="19050" cap="flat" cmpd="sng">
            <a:solidFill>
              <a:srgbClr val="2F6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" name="Google Shape;64;p5"/>
          <p:cNvSpPr/>
          <p:nvPr/>
        </p:nvSpPr>
        <p:spPr>
          <a:xfrm>
            <a:off x="822960" y="3017520"/>
            <a:ext cx="20116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Cambria"/>
              <a:buNone/>
            </a:pPr>
            <a:endParaRPr sz="1750" dirty="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65" name="Google Shape;65;p5"/>
          <p:cNvSpPr/>
          <p:nvPr/>
        </p:nvSpPr>
        <p:spPr>
          <a:xfrm>
            <a:off x="966216" y="2460567"/>
            <a:ext cx="10259568" cy="36742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5" tIns="125" rIns="125" bIns="125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Arial" panose="020B0604020202020204" pitchFamily="34" charset="0"/>
              <a:buChar char="•"/>
            </a:pPr>
            <a:r>
              <a:rPr lang="en-US" sz="1750" dirty="0">
                <a:solidFill>
                  <a:srgbClr val="00000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The dataset consists of 7,043 unique customers record and 21 attributes</a:t>
            </a:r>
            <a:endParaRPr lang="en-US" sz="1750" dirty="0">
              <a:latin typeface="Times New Roman" panose="02020603050405020304" pitchFamily="18" charset="0"/>
              <a:ea typeface="Cambria"/>
              <a:cs typeface="Times New Roman" panose="02020603050405020304" pitchFamily="18" charset="0"/>
              <a:sym typeface="Cambria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</a:pPr>
            <a:endParaRPr lang="en-US" sz="1750" dirty="0">
              <a:solidFill>
                <a:srgbClr val="000000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  <a:sym typeface="Cambria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Arial" panose="020B0604020202020204" pitchFamily="34" charset="0"/>
              <a:buChar char="•"/>
            </a:pPr>
            <a:r>
              <a:rPr lang="en-US" sz="1750" dirty="0">
                <a:solidFill>
                  <a:srgbClr val="00000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The data includes attributes such as customer demography, account information, services used, and churn status.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</a:pPr>
            <a:endParaRPr lang="en-US" sz="1750" dirty="0">
              <a:solidFill>
                <a:srgbClr val="000000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  <a:sym typeface="Cambria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Arial" panose="020B0604020202020204" pitchFamily="34" charset="0"/>
              <a:buChar char="•"/>
            </a:pPr>
            <a:r>
              <a:rPr lang="en-US" sz="1750" dirty="0">
                <a:solidFill>
                  <a:srgbClr val="00000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The churn status shows whether each customer stayed with the company or left.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</a:pPr>
            <a:endParaRPr lang="en-US" sz="1750" dirty="0">
              <a:latin typeface="Times New Roman" panose="02020603050405020304" pitchFamily="18" charset="0"/>
              <a:ea typeface="Cambria"/>
              <a:cs typeface="Times New Roman" panose="02020603050405020304" pitchFamily="18" charset="0"/>
              <a:sym typeface="Cambria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Arial" panose="020B0604020202020204" pitchFamily="34" charset="0"/>
              <a:buChar char="•"/>
            </a:pPr>
            <a:r>
              <a:rPr lang="en-US" sz="1750" dirty="0">
                <a:solidFill>
                  <a:srgbClr val="00000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The dashboard was built to compare churn across these attributes to identify attrition caused, and predict behavior to retain customers.</a:t>
            </a:r>
            <a:endParaRPr lang="en-US" sz="1750" dirty="0">
              <a:solidFill>
                <a:schemeClr val="dk1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  <a:sym typeface="Cambria"/>
            </a:endParaRPr>
          </a:p>
          <a:p>
            <a:pPr>
              <a:buSzPts val="1750"/>
            </a:pPr>
            <a:endParaRPr lang="en-US" sz="1750" dirty="0">
              <a:solidFill>
                <a:schemeClr val="dk1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  <a:sym typeface="Cambri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Cambria"/>
              <a:buNone/>
            </a:pPr>
            <a:endParaRPr sz="1750" dirty="0">
              <a:solidFill>
                <a:schemeClr val="dk1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  <a:sym typeface="Cambria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822960" y="3456432"/>
            <a:ext cx="20116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Cambria"/>
              <a:buNone/>
            </a:pPr>
            <a:endParaRPr sz="1750" dirty="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6E1566-C42E-5A2B-032B-976682BD7E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387" y="1452000"/>
            <a:ext cx="10555173" cy="8668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6"/>
          <p:cNvSpPr/>
          <p:nvPr/>
        </p:nvSpPr>
        <p:spPr>
          <a:xfrm>
            <a:off x="502920" y="320040"/>
            <a:ext cx="111556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28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KEY FINDINGS – OVERVIEW</a:t>
            </a:r>
            <a:endParaRPr sz="2800" dirty="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cxnSp>
        <p:nvCxnSpPr>
          <p:cNvPr id="79" name="Google Shape;79;p6"/>
          <p:cNvCxnSpPr/>
          <p:nvPr/>
        </p:nvCxnSpPr>
        <p:spPr>
          <a:xfrm>
            <a:off x="502920" y="1170432"/>
            <a:ext cx="11155680" cy="0"/>
          </a:xfrm>
          <a:prstGeom prst="straightConnector1">
            <a:avLst/>
          </a:prstGeom>
          <a:noFill/>
          <a:ln w="19050" cap="flat" cmpd="sng">
            <a:solidFill>
              <a:srgbClr val="2F6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Shape 2">
            <a:extLst>
              <a:ext uri="{FF2B5EF4-FFF2-40B4-BE49-F238E27FC236}">
                <a16:creationId xmlns:a16="http://schemas.microsoft.com/office/drawing/2014/main" id="{8FEC741E-C1A6-B267-D15F-7798F39490C1}"/>
              </a:ext>
            </a:extLst>
          </p:cNvPr>
          <p:cNvSpPr/>
          <p:nvPr/>
        </p:nvSpPr>
        <p:spPr>
          <a:xfrm>
            <a:off x="7646126" y="1465678"/>
            <a:ext cx="4012474" cy="5175916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4F3B024-45AF-6504-892F-F506563AFA38}"/>
              </a:ext>
            </a:extLst>
          </p:cNvPr>
          <p:cNvSpPr/>
          <p:nvPr/>
        </p:nvSpPr>
        <p:spPr>
          <a:xfrm>
            <a:off x="7752806" y="1478279"/>
            <a:ext cx="3936274" cy="5059681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Overall churn rate is 26.54% that is 5,174 active customers compared to initial 7,043. Which also means that more than 1 out of every customer signed up customer churns.</a:t>
            </a:r>
          </a:p>
          <a:p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customers in the first 12 months who signed a contract of &lt;= 1 year  leave most often.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Electronic check users are at high-risk to churn easily.</a:t>
            </a:r>
          </a:p>
          <a:p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787C76-7E46-5101-F939-3928CE82EE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78279"/>
            <a:ext cx="7057731" cy="3984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9062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6"/>
          <p:cNvSpPr/>
          <p:nvPr/>
        </p:nvSpPr>
        <p:spPr>
          <a:xfrm>
            <a:off x="502920" y="320040"/>
            <a:ext cx="111556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28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KEY FINDINGS – </a:t>
            </a:r>
            <a:r>
              <a:rPr lang="en-US" sz="2800" b="1" dirty="0">
                <a:latin typeface="Cambria"/>
                <a:ea typeface="Cambria"/>
                <a:cs typeface="Cambria"/>
                <a:sym typeface="Cambria"/>
              </a:rPr>
              <a:t>SERVICES</a:t>
            </a:r>
            <a:endParaRPr sz="2800" dirty="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cxnSp>
        <p:nvCxnSpPr>
          <p:cNvPr id="79" name="Google Shape;79;p6"/>
          <p:cNvCxnSpPr/>
          <p:nvPr/>
        </p:nvCxnSpPr>
        <p:spPr>
          <a:xfrm>
            <a:off x="502920" y="1170432"/>
            <a:ext cx="11155680" cy="0"/>
          </a:xfrm>
          <a:prstGeom prst="straightConnector1">
            <a:avLst/>
          </a:prstGeom>
          <a:noFill/>
          <a:ln w="19050" cap="flat" cmpd="sng">
            <a:solidFill>
              <a:srgbClr val="2F6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Shape 2">
            <a:extLst>
              <a:ext uri="{FF2B5EF4-FFF2-40B4-BE49-F238E27FC236}">
                <a16:creationId xmlns:a16="http://schemas.microsoft.com/office/drawing/2014/main" id="{8FEC741E-C1A6-B267-D15F-7798F39490C1}"/>
              </a:ext>
            </a:extLst>
          </p:cNvPr>
          <p:cNvSpPr/>
          <p:nvPr/>
        </p:nvSpPr>
        <p:spPr>
          <a:xfrm>
            <a:off x="7646126" y="1465678"/>
            <a:ext cx="4012474" cy="5175916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4F3B024-45AF-6504-892F-F506563AFA38}"/>
              </a:ext>
            </a:extLst>
          </p:cNvPr>
          <p:cNvSpPr/>
          <p:nvPr/>
        </p:nvSpPr>
        <p:spPr>
          <a:xfrm>
            <a:off x="7752806" y="1478279"/>
            <a:ext cx="3936274" cy="5059681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Cambria"/>
                <a:ea typeface="Cambria"/>
                <a:cs typeface="Cambria"/>
                <a:sym typeface="Cambria"/>
              </a:rPr>
              <a:t>Customers without tech support make up the largest share of churned customers.</a:t>
            </a:r>
          </a:p>
          <a:p>
            <a:endParaRPr lang="en-US" sz="1800" dirty="0">
              <a:solidFill>
                <a:schemeClr val="tx1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Fiber optic customers have the highest churn among internet service groups.</a:t>
            </a:r>
            <a:endParaRPr lang="en-US" sz="1800" dirty="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Cambria"/>
                <a:ea typeface="Cambria"/>
                <a:cs typeface="Cambria"/>
                <a:sym typeface="Cambria"/>
              </a:rPr>
              <a:t>Customers without Online security services has a higher churn rate (1,461 to 295)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781F3A-B6D8-3A25-3507-9D24AE1FD9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465678"/>
            <a:ext cx="6900022" cy="3871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183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6"/>
          <p:cNvSpPr/>
          <p:nvPr/>
        </p:nvSpPr>
        <p:spPr>
          <a:xfrm>
            <a:off x="502920" y="320040"/>
            <a:ext cx="111556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28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KEY FINDINGS – DEMOGRAPHY</a:t>
            </a:r>
            <a:endParaRPr sz="2800" dirty="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cxnSp>
        <p:nvCxnSpPr>
          <p:cNvPr id="79" name="Google Shape;79;p6"/>
          <p:cNvCxnSpPr/>
          <p:nvPr/>
        </p:nvCxnSpPr>
        <p:spPr>
          <a:xfrm>
            <a:off x="502920" y="1170432"/>
            <a:ext cx="11155680" cy="0"/>
          </a:xfrm>
          <a:prstGeom prst="straightConnector1">
            <a:avLst/>
          </a:prstGeom>
          <a:noFill/>
          <a:ln w="19050" cap="flat" cmpd="sng">
            <a:solidFill>
              <a:srgbClr val="2F6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Shape 2">
            <a:extLst>
              <a:ext uri="{FF2B5EF4-FFF2-40B4-BE49-F238E27FC236}">
                <a16:creationId xmlns:a16="http://schemas.microsoft.com/office/drawing/2014/main" id="{8FEC741E-C1A6-B267-D15F-7798F39490C1}"/>
              </a:ext>
            </a:extLst>
          </p:cNvPr>
          <p:cNvSpPr/>
          <p:nvPr/>
        </p:nvSpPr>
        <p:spPr>
          <a:xfrm>
            <a:off x="7646126" y="1465678"/>
            <a:ext cx="4012474" cy="5175916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4F3B024-45AF-6504-892F-F506563AFA38}"/>
              </a:ext>
            </a:extLst>
          </p:cNvPr>
          <p:cNvSpPr/>
          <p:nvPr/>
        </p:nvSpPr>
        <p:spPr>
          <a:xfrm>
            <a:off x="7752806" y="1478279"/>
            <a:ext cx="3936274" cy="5059681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Average monthly charge for churn was $74.44 was higher than retained $61.27.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Customers who has no dependent(s) churn higher 31.28% compared to those with dependent(s) 15.45%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Female customers churn at a higher rate of 50.72% than male customers 49.38%.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Unmarried customers churn at a higher rate</a:t>
            </a:r>
          </a:p>
          <a:p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4D424C-5E09-CA4E-1362-C5CD18A7CF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627" y="1465678"/>
            <a:ext cx="7014695" cy="3942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2783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9"/>
          <p:cNvSpPr/>
          <p:nvPr/>
        </p:nvSpPr>
        <p:spPr>
          <a:xfrm>
            <a:off x="502920" y="320040"/>
            <a:ext cx="111556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2800" b="1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Recommendations</a:t>
            </a:r>
            <a:endParaRPr sz="280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cxnSp>
        <p:nvCxnSpPr>
          <p:cNvPr id="135" name="Google Shape;135;p9"/>
          <p:cNvCxnSpPr/>
          <p:nvPr/>
        </p:nvCxnSpPr>
        <p:spPr>
          <a:xfrm>
            <a:off x="502920" y="1170432"/>
            <a:ext cx="11155680" cy="0"/>
          </a:xfrm>
          <a:prstGeom prst="straightConnector1">
            <a:avLst/>
          </a:prstGeom>
          <a:noFill/>
          <a:ln w="19050" cap="flat" cmpd="sng">
            <a:solidFill>
              <a:srgbClr val="2F6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" name="Text 3">
            <a:extLst>
              <a:ext uri="{FF2B5EF4-FFF2-40B4-BE49-F238E27FC236}">
                <a16:creationId xmlns:a16="http://schemas.microsoft.com/office/drawing/2014/main" id="{6D2DC43B-89EF-5499-19EE-58DA917A39D4}"/>
              </a:ext>
            </a:extLst>
          </p:cNvPr>
          <p:cNvSpPr/>
          <p:nvPr/>
        </p:nvSpPr>
        <p:spPr>
          <a:xfrm>
            <a:off x="502920" y="1440397"/>
            <a:ext cx="10086703" cy="4794939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46609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NG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Encourage Long-Term Contracts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</a:p>
          <a:p>
            <a:pPr marL="46609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46609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NG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Improve Customer Value</a:t>
            </a: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46609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46609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NG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Promote Support Services</a:t>
            </a: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46609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46609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NG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Focus on New Customers</a:t>
            </a: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46609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US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46609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NG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Develop Targeted Retention Campaigns</a:t>
            </a:r>
            <a:endParaRPr lang="en-NG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49820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"/>
          <p:cNvSpPr/>
          <p:nvPr/>
        </p:nvSpPr>
        <p:spPr>
          <a:xfrm>
            <a:off x="502920" y="320040"/>
            <a:ext cx="111556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0" tIns="250" rIns="250" bIns="25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2800" b="1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Conclusion</a:t>
            </a:r>
            <a:endParaRPr sz="280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cxnSp>
        <p:nvCxnSpPr>
          <p:cNvPr id="155" name="Google Shape;155;p10"/>
          <p:cNvCxnSpPr/>
          <p:nvPr/>
        </p:nvCxnSpPr>
        <p:spPr>
          <a:xfrm>
            <a:off x="502920" y="1170432"/>
            <a:ext cx="11155680" cy="0"/>
          </a:xfrm>
          <a:prstGeom prst="straightConnector1">
            <a:avLst/>
          </a:prstGeom>
          <a:noFill/>
          <a:ln w="19050" cap="flat" cmpd="sng">
            <a:solidFill>
              <a:srgbClr val="2F6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7" name="Google Shape;157;p10"/>
          <p:cNvSpPr/>
          <p:nvPr/>
        </p:nvSpPr>
        <p:spPr>
          <a:xfrm>
            <a:off x="502920" y="1680755"/>
            <a:ext cx="7482840" cy="4224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5" tIns="125" rIns="125" bIns="125" anchor="ctr" anchorCtr="0">
            <a:noAutofit/>
          </a:bodyPr>
          <a:lstStyle/>
          <a:p>
            <a:pPr>
              <a:lnSpc>
                <a:spcPct val="90000"/>
              </a:lnSpc>
              <a:buSzPts val="1800"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  <a:sym typeface="Cambria"/>
            </a:endParaRPr>
          </a:p>
          <a:p>
            <a:pPr marL="285750" indent="-285750">
              <a:lnSpc>
                <a:spcPct val="90000"/>
              </a:lnSpc>
              <a:buSzPts val="1800"/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Insight - 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NG" sz="1800" kern="1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ustomer</a:t>
            </a:r>
            <a:r>
              <a:rPr lang="en-NG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churn is affected by contract type, monthly charges, service usage, and customer demographics.</a:t>
            </a:r>
            <a:endParaRPr lang="en-NG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90000"/>
              </a:lnSpc>
              <a:buSzPts val="18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lnSpc>
                <a:spcPct val="90000"/>
              </a:lnSpc>
              <a:buSzPts val="18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  <a:sym typeface="Cambria"/>
            </a:endParaRPr>
          </a:p>
          <a:p>
            <a:pPr marL="285750" indent="-285750">
              <a:lnSpc>
                <a:spcPct val="90000"/>
              </a:lnSpc>
              <a:buSzPts val="1800"/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Business Action - 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Build retention campaigns around contract upgrades, first-year support, pricing reviews, and better service help.</a:t>
            </a:r>
          </a:p>
          <a:p>
            <a:pPr marL="285750" indent="-285750">
              <a:lnSpc>
                <a:spcPct val="90000"/>
              </a:lnSpc>
              <a:buSzPts val="18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90000"/>
              </a:lnSpc>
              <a:buSzPts val="1800"/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Expected Result - 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Targeted action can reduce avoidable customer loss and protect recurring revenue.</a:t>
            </a:r>
          </a:p>
          <a:p>
            <a:pPr marL="285750" indent="-285750">
              <a:lnSpc>
                <a:spcPct val="90000"/>
              </a:lnSpc>
              <a:buSzPts val="18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  <a:sym typeface="Cambria"/>
            </a:endParaRPr>
          </a:p>
          <a:p>
            <a:pPr marL="285750" indent="-285750">
              <a:lnSpc>
                <a:spcPct val="90000"/>
              </a:lnSpc>
              <a:buSzPts val="18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  <a:sym typeface="Cambria"/>
            </a:endParaRPr>
          </a:p>
          <a:p>
            <a:pPr marL="285750" indent="-285750">
              <a:lnSpc>
                <a:spcPct val="90000"/>
              </a:lnSpc>
              <a:buSzPts val="18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  <a:sym typeface="Cambria"/>
            </a:endParaRPr>
          </a:p>
          <a:p>
            <a:pPr marL="285750" marR="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 pitchFamily="34" charset="0"/>
              <a:buChar char="•"/>
            </a:pPr>
            <a:endParaRPr sz="1800" dirty="0">
              <a:solidFill>
                <a:schemeClr val="tx1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  <a:sym typeface="Cambri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432</Words>
  <Application>Microsoft Office PowerPoint</Application>
  <PresentationFormat>Widescreen</PresentationFormat>
  <Paragraphs>76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Arial</vt:lpstr>
      <vt:lpstr>Cambria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Chukwudi Onwusa</cp:lastModifiedBy>
  <cp:revision>53</cp:revision>
  <dcterms:modified xsi:type="dcterms:W3CDTF">2026-06-09T20:00:48Z</dcterms:modified>
</cp:coreProperties>
</file>