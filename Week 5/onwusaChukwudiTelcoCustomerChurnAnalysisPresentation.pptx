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0"/>
  </p:notesMasterIdLst>
  <p:sldIdLst>
    <p:sldId id="256" r:id="rId2"/>
    <p:sldId id="257" r:id="rId3"/>
    <p:sldId id="258" r:id="rId4"/>
    <p:sldId id="267" r:id="rId5"/>
    <p:sldId id="268" r:id="rId6"/>
    <p:sldId id="269" r:id="rId7"/>
    <p:sldId id="270" r:id="rId8"/>
    <p:sldId id="263" r:id="rId9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5763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4175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0430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0041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9D9"/>
          </a:solidFill>
          <a:ln w="12700" cap="flat" cmpd="sng">
            <a:solidFill>
              <a:srgbClr val="2F6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7716E5-62C0-CFC3-5BD4-D36966C698DF}"/>
              </a:ext>
            </a:extLst>
          </p:cNvPr>
          <p:cNvSpPr txBox="1">
            <a:spLocks/>
          </p:cNvSpPr>
          <p:nvPr/>
        </p:nvSpPr>
        <p:spPr>
          <a:xfrm>
            <a:off x="641404" y="760876"/>
            <a:ext cx="11100021" cy="663396"/>
          </a:xfrm>
          <a:prstGeom prst="rect">
            <a:avLst/>
          </a:prstGeom>
        </p:spPr>
        <p:txBody>
          <a:bodyPr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TELCO CUSTOMER CHURN ANALYTICAL REPORT</a:t>
            </a:r>
            <a:endParaRPr lang="en-NG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8319D-ACF1-9EFB-0FB1-52E6722168E4}"/>
              </a:ext>
            </a:extLst>
          </p:cNvPr>
          <p:cNvSpPr txBox="1">
            <a:spLocks/>
          </p:cNvSpPr>
          <p:nvPr/>
        </p:nvSpPr>
        <p:spPr>
          <a:xfrm>
            <a:off x="1619414" y="1924296"/>
            <a:ext cx="9144000" cy="50878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WHY CUSTOMERS ARE LEAVING</a:t>
            </a:r>
            <a:endParaRPr lang="en-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D2EB206-F177-71C2-48D7-9F08B793534E}"/>
              </a:ext>
            </a:extLst>
          </p:cNvPr>
          <p:cNvSpPr txBox="1">
            <a:spLocks/>
          </p:cNvSpPr>
          <p:nvPr/>
        </p:nvSpPr>
        <p:spPr>
          <a:xfrm>
            <a:off x="1619414" y="4496669"/>
            <a:ext cx="9144000" cy="1488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QUERY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DAX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</a:t>
            </a:r>
            <a:endParaRPr lang="en-NG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F33026A-0C2E-A6A8-7B76-9AF34925C707}"/>
              </a:ext>
            </a:extLst>
          </p:cNvPr>
          <p:cNvSpPr txBox="1">
            <a:spLocks/>
          </p:cNvSpPr>
          <p:nvPr/>
        </p:nvSpPr>
        <p:spPr>
          <a:xfrm>
            <a:off x="1619414" y="2490083"/>
            <a:ext cx="9144000" cy="1488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ONWUSA, CHUKWUDI</a:t>
            </a:r>
            <a:endParaRPr lang="en-NG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mbria"/>
              <a:buNone/>
            </a:pPr>
            <a:r>
              <a:rPr lang="en-US" sz="2800" b="1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sz="28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34" name="Google Shape;34;p4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w="19050" cap="flat" cmpd="sng">
            <a:solidFill>
              <a:srgbClr val="2F6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4"/>
          <p:cNvSpPr/>
          <p:nvPr/>
        </p:nvSpPr>
        <p:spPr>
          <a:xfrm>
            <a:off x="777240" y="1508760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033272" y="1508760"/>
            <a:ext cx="568756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" tIns="125" rIns="125" bIns="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business is losing more than one in four customers, which can reduce revenue and weaken long-term growth.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77240" y="2191789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33272" y="2188603"/>
            <a:ext cx="568756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" tIns="125" rIns="125" bIns="12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main goal is to understand the common features of customers who leave the business.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98368" y="2779776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033272" y="2798064"/>
            <a:ext cx="5632704" cy="690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" tIns="125" rIns="125" bIns="12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5"/>
              <a:buFont typeface="Cambria"/>
              <a:buNone/>
            </a:pPr>
            <a:r>
              <a:rPr lang="en-US" sz="1665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analysis focuses on factors such as customer tenure, contract type,  services, payment methods and others.</a:t>
            </a:r>
            <a:endParaRPr sz="1665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68373" y="3806535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254240" y="3920835"/>
            <a:ext cx="4480560" cy="892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are customers leaving the company, and which factors contribute most to customer churn?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4EF7DB-6266-1C1B-D23A-51E726B58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038" y="1623060"/>
            <a:ext cx="3935125" cy="22978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mbria"/>
              <a:buNone/>
            </a:pPr>
            <a:r>
              <a:rPr lang="en-US" sz="2800" b="1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DATASET OVERVIEW</a:t>
            </a:r>
            <a:endParaRPr sz="28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51" name="Google Shape;51;p5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w="19050" cap="flat" cmpd="sng">
            <a:solidFill>
              <a:srgbClr val="2F6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5"/>
          <p:cNvSpPr/>
          <p:nvPr/>
        </p:nvSpPr>
        <p:spPr>
          <a:xfrm>
            <a:off x="822960" y="3017520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ambria"/>
              <a:buNone/>
            </a:pPr>
            <a:endParaRPr sz="175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66216" y="2460567"/>
            <a:ext cx="10259568" cy="3674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" tIns="125" rIns="125" bIns="125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dataset consists of 7,043 unique customers record and 21 attributes</a:t>
            </a:r>
            <a:endParaRPr lang="en-US" sz="175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</a:pPr>
            <a:endParaRPr lang="en-US" sz="1750" dirty="0">
              <a:solidFill>
                <a:srgbClr val="00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data includes attributes such as customer demography, account information, services used, and churn status.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</a:pPr>
            <a:endParaRPr lang="en-US" sz="1750" dirty="0">
              <a:solidFill>
                <a:srgbClr val="00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churn status shows whether each customer stayed with the company or left.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</a:pPr>
            <a:endParaRPr lang="en-US" sz="175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dashboard was built to compare churn across these attributes to identify attrition caused, and predict behavior to retain customers.</a:t>
            </a:r>
            <a:endParaRPr lang="en-US" sz="1750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buSzPts val="1750"/>
            </a:pPr>
            <a:endParaRPr lang="en-US" sz="1750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ambria"/>
              <a:buNone/>
            </a:pPr>
            <a:endParaRPr sz="1750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22960" y="3456432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ambria"/>
              <a:buNone/>
            </a:pPr>
            <a:endParaRPr sz="175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6E1566-C42E-5A2B-032B-976682BD7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87" y="1452000"/>
            <a:ext cx="10555173" cy="866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mbria"/>
              <a:buNone/>
            </a:pPr>
            <a:r>
              <a:rPr lang="en-US" sz="2800" b="1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KEY FINDINGS – OVERVIEW</a:t>
            </a:r>
            <a:endParaRPr sz="28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79" name="Google Shape;79;p6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w="19050" cap="flat" cmpd="sng">
            <a:solidFill>
              <a:srgbClr val="2F6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Shape 2">
            <a:extLst>
              <a:ext uri="{FF2B5EF4-FFF2-40B4-BE49-F238E27FC236}">
                <a16:creationId xmlns:a16="http://schemas.microsoft.com/office/drawing/2014/main" id="{8FEC741E-C1A6-B267-D15F-7798F39490C1}"/>
              </a:ext>
            </a:extLst>
          </p:cNvPr>
          <p:cNvSpPr/>
          <p:nvPr/>
        </p:nvSpPr>
        <p:spPr>
          <a:xfrm>
            <a:off x="7646126" y="1465678"/>
            <a:ext cx="4012474" cy="5175916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F3B024-45AF-6504-892F-F506563AFA38}"/>
              </a:ext>
            </a:extLst>
          </p:cNvPr>
          <p:cNvSpPr/>
          <p:nvPr/>
        </p:nvSpPr>
        <p:spPr>
          <a:xfrm>
            <a:off x="7752806" y="1478279"/>
            <a:ext cx="3936274" cy="505968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churn rate is 26.54% that is 5,174 active customers compared to initial 7,043. Which also means that more than 1 out of every customer signed up customer churns.</a:t>
            </a:r>
          </a:p>
          <a:p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customers in the first 12 months who signed a contract of &lt;= 1 year  leave most often.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check users are at high-risk to churn easily.</a:t>
            </a:r>
          </a:p>
          <a:p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832636-CCEF-25D7-0A00-87838A5B5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65678"/>
            <a:ext cx="6964741" cy="391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06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mbria"/>
              <a:buNone/>
            </a:pPr>
            <a:r>
              <a:rPr lang="en-US" sz="2800" b="1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KEY FINDINGS – </a:t>
            </a:r>
            <a:r>
              <a:rPr lang="en-US" sz="2800" b="1" dirty="0">
                <a:latin typeface="Cambria"/>
                <a:ea typeface="Cambria"/>
                <a:cs typeface="Cambria"/>
                <a:sym typeface="Cambria"/>
              </a:rPr>
              <a:t>SERVICES</a:t>
            </a:r>
            <a:endParaRPr sz="28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79" name="Google Shape;79;p6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w="19050" cap="flat" cmpd="sng">
            <a:solidFill>
              <a:srgbClr val="2F6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Shape 2">
            <a:extLst>
              <a:ext uri="{FF2B5EF4-FFF2-40B4-BE49-F238E27FC236}">
                <a16:creationId xmlns:a16="http://schemas.microsoft.com/office/drawing/2014/main" id="{8FEC741E-C1A6-B267-D15F-7798F39490C1}"/>
              </a:ext>
            </a:extLst>
          </p:cNvPr>
          <p:cNvSpPr/>
          <p:nvPr/>
        </p:nvSpPr>
        <p:spPr>
          <a:xfrm>
            <a:off x="7646126" y="1465678"/>
            <a:ext cx="4012474" cy="5175916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F3B024-45AF-6504-892F-F506563AFA38}"/>
              </a:ext>
            </a:extLst>
          </p:cNvPr>
          <p:cNvSpPr/>
          <p:nvPr/>
        </p:nvSpPr>
        <p:spPr>
          <a:xfrm>
            <a:off x="7752806" y="1478279"/>
            <a:ext cx="3936274" cy="505968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Customers without tech support make up the largest share of churned customers.</a:t>
            </a:r>
          </a:p>
          <a:p>
            <a:endParaRPr lang="en-US" sz="1800"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Fiber optic customers have the highest churn among internet service groups.</a:t>
            </a:r>
            <a:endParaRPr lang="en-US" sz="18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Customers without Online security services has a higher churn rate (1,461 to 295)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781F3A-B6D8-3A25-3507-9D24AE1FD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65678"/>
            <a:ext cx="6900022" cy="387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18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mbria"/>
              <a:buNone/>
            </a:pPr>
            <a:r>
              <a:rPr lang="en-US" sz="2800" b="1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KEY FINDINGS – DEMOGRAPHY</a:t>
            </a:r>
            <a:endParaRPr sz="28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79" name="Google Shape;79;p6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w="19050" cap="flat" cmpd="sng">
            <a:solidFill>
              <a:srgbClr val="2F6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Shape 2">
            <a:extLst>
              <a:ext uri="{FF2B5EF4-FFF2-40B4-BE49-F238E27FC236}">
                <a16:creationId xmlns:a16="http://schemas.microsoft.com/office/drawing/2014/main" id="{8FEC741E-C1A6-B267-D15F-7798F39490C1}"/>
              </a:ext>
            </a:extLst>
          </p:cNvPr>
          <p:cNvSpPr/>
          <p:nvPr/>
        </p:nvSpPr>
        <p:spPr>
          <a:xfrm>
            <a:off x="7646126" y="1465678"/>
            <a:ext cx="4012474" cy="5175916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F3B024-45AF-6504-892F-F506563AFA38}"/>
              </a:ext>
            </a:extLst>
          </p:cNvPr>
          <p:cNvSpPr/>
          <p:nvPr/>
        </p:nvSpPr>
        <p:spPr>
          <a:xfrm>
            <a:off x="7752806" y="1478279"/>
            <a:ext cx="3936274" cy="505968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monthly charge for churn was $74.44 was higher than retained $61.27.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who has no dependent(s) churn higher 31.28% compared to those with dependent(s) 15.45%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Female customers churn at a higher rate of 50.72% than male customers 49.38%.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Unmarried customers churn at a higher rate</a:t>
            </a:r>
          </a:p>
          <a:p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4D424C-5E09-CA4E-1362-C5CD18A7C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27" y="1465678"/>
            <a:ext cx="7014695" cy="394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78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Recommendations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35" name="Google Shape;135;p9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w="19050" cap="flat" cmpd="sng">
            <a:solidFill>
              <a:srgbClr val="2F6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 3">
            <a:extLst>
              <a:ext uri="{FF2B5EF4-FFF2-40B4-BE49-F238E27FC236}">
                <a16:creationId xmlns:a16="http://schemas.microsoft.com/office/drawing/2014/main" id="{6D2DC43B-89EF-5499-19EE-58DA917A39D4}"/>
              </a:ext>
            </a:extLst>
          </p:cNvPr>
          <p:cNvSpPr/>
          <p:nvPr/>
        </p:nvSpPr>
        <p:spPr>
          <a:xfrm>
            <a:off x="502920" y="1440397"/>
            <a:ext cx="10086703" cy="479493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46609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NG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Encourage Long-Term Contracts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46609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6609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NG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Improve Customer Value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6609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6609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NG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Promote Support Services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6609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6609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NG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Focus on New Customers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6609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6609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NG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Develop Targeted Retention Campaigns</a:t>
            </a:r>
            <a:endParaRPr lang="en-N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982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55" name="Google Shape;155;p10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w="19050" cap="flat" cmpd="sng">
            <a:solidFill>
              <a:srgbClr val="2F6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" name="Google Shape;157;p10"/>
          <p:cNvSpPr/>
          <p:nvPr/>
        </p:nvSpPr>
        <p:spPr>
          <a:xfrm>
            <a:off x="502920" y="1680755"/>
            <a:ext cx="7482840" cy="422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" tIns="125" rIns="125" bIns="125" anchor="ctr" anchorCtr="0">
            <a:noAutofit/>
          </a:bodyPr>
          <a:lstStyle/>
          <a:p>
            <a:pPr>
              <a:lnSpc>
                <a:spcPct val="90000"/>
              </a:lnSpc>
              <a:buSzPts val="1800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285750" indent="-285750">
              <a:lnSpc>
                <a:spcPct val="90000"/>
              </a:lnSpc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-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NG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ustomer</a:t>
            </a:r>
            <a:r>
              <a:rPr lang="en-NG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churn is affected by contract type, monthly charges, service usage, and customer demographics.</a:t>
            </a:r>
            <a:endParaRPr lang="en-N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90000"/>
              </a:lnSpc>
              <a:buSzPts val="18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285750" indent="-285750">
              <a:lnSpc>
                <a:spcPct val="90000"/>
              </a:lnSpc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Action -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retention campaigns around contract upgrades, first-year support, pricing reviews, and better service help.</a:t>
            </a:r>
          </a:p>
          <a:p>
            <a:pPr marL="285750" indent="-285750">
              <a:lnSpc>
                <a:spcPct val="90000"/>
              </a:lnSpc>
              <a:buSzPts val="18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 -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Targeted action can reduce avoidable customer loss and protect recurring revenue.</a:t>
            </a:r>
          </a:p>
          <a:p>
            <a:pPr marL="285750" indent="-285750">
              <a:lnSpc>
                <a:spcPct val="90000"/>
              </a:lnSpc>
              <a:buSzPts val="18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285750" indent="-285750">
              <a:lnSpc>
                <a:spcPct val="90000"/>
              </a:lnSpc>
              <a:buSzPts val="18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285750" indent="-285750">
              <a:lnSpc>
                <a:spcPct val="90000"/>
              </a:lnSpc>
              <a:buSzPts val="18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endParaRPr sz="1800" dirty="0">
              <a:solidFill>
                <a:schemeClr val="tx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432</Words>
  <Application>Microsoft Office PowerPoint</Application>
  <PresentationFormat>Widescreen</PresentationFormat>
  <Paragraphs>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Chukwudi Onwusa</cp:lastModifiedBy>
  <cp:revision>52</cp:revision>
  <dcterms:modified xsi:type="dcterms:W3CDTF">2026-06-09T19:15:27Z</dcterms:modified>
</cp:coreProperties>
</file>