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814" autoAdjust="0"/>
    <p:restoredTop sz="94660" autoAdjust="0"/>
  </p:normalViewPr>
  <p:slideViewPr>
    <p:cSldViewPr snapToGrid="0">
      <p:cViewPr varScale="1">
        <p:scale>
          <a:sx n="116" d="100"/>
          <a:sy n="116" d="100"/>
        </p:scale>
        <p:origin x="954" y="102"/>
      </p:cViewPr>
      <p:guideLst/>
    </p:cSldViewPr>
  </p:slideViewPr>
  <p:outlineViewPr>
    <p:cViewPr>
      <p:scale>
        <a:sx n="33" d="100"/>
        <a:sy n="33" d="100"/>
      </p:scale>
      <p:origin x="0" y="-19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73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52381-620E-47D4-B3EA-C23F42EEA86B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E4447C-B2C0-47A1-B5E9-493C104EFFA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14048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4447C-B2C0-47A1-B5E9-493C104EFFAA}" type="slidenum">
              <a:rPr lang="en-NG" smtClean="0"/>
              <a:t>6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43670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0044-8E4D-FED0-31EE-9C987AB96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5F94E-8C37-CEAD-0178-1863B7810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FD113-D3C5-F8B9-2251-929F688A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5BC6-4C4A-4A60-97F7-BE5B3EE5B2CE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4416B-9BC8-1A59-3EDF-B074456CE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8C4D3-3003-E33A-D4C6-D7DE1734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5BE0-66C4-4C96-A6E2-B562F0FB614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6693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3AEBA-8DF2-D494-E9B5-890B80682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407F6-007D-63D4-358F-5A253DB5B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2C4B2-5356-E637-ACA8-9439BB905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5BC6-4C4A-4A60-97F7-BE5B3EE5B2CE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1A934-A9A6-C9B3-61BA-7A32A5E9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F596B-ED9C-4CA9-319B-0CC3E2E5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5BE0-66C4-4C96-A6E2-B562F0FB614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70273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3FBB0-8195-5EC9-2107-E9EFA0DD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B634D-7E56-39DD-FA6D-DFD7A7693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FA48F-F09E-190D-9B1A-E10597C77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5BC6-4C4A-4A60-97F7-BE5B3EE5B2CE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1327-9024-1262-B4E0-5420449DE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08001-5E78-6AF4-770A-883E6FE59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5BE0-66C4-4C96-A6E2-B562F0FB614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97038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66AF2-7007-1055-BBEB-1E5F70254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B52C7-AFA7-D126-4A16-29CD4968E8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EB789-341C-9886-1D70-68AA4B1DA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3EE18-CDBD-9060-F58E-CA8E18F8D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5BC6-4C4A-4A60-97F7-BE5B3EE5B2CE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4B83D-7C82-332F-507F-09C50DFE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5966E-F320-976E-AF01-AB95D373F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5BE0-66C4-4C96-A6E2-B562F0FB614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24438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F1142-D773-5103-CAFE-E5EED84A0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1CF68-08EC-233A-E2C7-4242F01D9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E7130-8DD9-7CCE-59E2-577BCFADE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FD61F5-EDCF-2371-EEA4-ACA7F74B5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7CD8A-60F4-F6E2-B339-B7BF3CDCD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F6E2D1-70C9-62F2-AF34-64E09BF8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5BC6-4C4A-4A60-97F7-BE5B3EE5B2CE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BF9E-1A9E-AD5D-8BBB-EA64E4BE8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AF2C78-B96F-0985-D0CC-C210D882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5BE0-66C4-4C96-A6E2-B562F0FB614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7869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1F23-C0C8-55DB-6EEC-E8E988E57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4C4EC5-62DE-B814-D85F-6C2F4FBD5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5BC6-4C4A-4A60-97F7-BE5B3EE5B2CE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1DD273-3C4A-9883-E91B-C740EB2B1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53686-61FD-3743-83E1-B2EB30B6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5BE0-66C4-4C96-A6E2-B562F0FB614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5369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4BAD10-E00C-90A7-E079-A025C7AC3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5BC6-4C4A-4A60-97F7-BE5B3EE5B2CE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3E990-7C10-0131-F557-8B8FAD159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8F08B-3A6C-1F01-F720-B39BF8E23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5BE0-66C4-4C96-A6E2-B562F0FB614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26114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41F1-1349-4C30-25E8-C0BF0D97F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95F2-BC0E-8DFC-306A-02A4CF836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A3722-235F-70C5-9EBE-43800B688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6E14D-A98B-F889-950A-BAEFCC80A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5BC6-4C4A-4A60-97F7-BE5B3EE5B2CE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E66E0-1347-C3D4-D215-0CDA0E7B1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FE7C0-8BAF-9267-0B93-B06CDF081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5BE0-66C4-4C96-A6E2-B562F0FB614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30416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0FC94-6EFD-8F83-1674-FDA2B8B86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C73A9-6A1C-E03E-2F78-37B8CD15C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D77DF-BF98-DB28-13F8-B30B7A24B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DBD4D-2EEB-849D-262E-4F51588C7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5BC6-4C4A-4A60-97F7-BE5B3EE5B2CE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63A84-66FD-D066-8BC9-2454203D7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F47C5-84A9-9B73-023D-92618C19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5BE0-66C4-4C96-A6E2-B562F0FB614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10967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E87B-ED53-709C-9492-F9471E35B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A8EDF-88CD-2E0E-F121-43F5C0403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4939D-3EA1-5D72-7F42-B15223B3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5BC6-4C4A-4A60-97F7-BE5B3EE5B2CE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EED7F-198D-1B58-A343-1171A5653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8C04F-0017-8B26-FB9E-8246643EB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5BE0-66C4-4C96-A6E2-B562F0FB614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42452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9DDF0-AC39-5F50-D2F4-74E8C1407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EF814-2181-F5D3-47C1-0834D6514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5BFB2-CB44-2A50-FBC5-5ADCCF29D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5BC6-4C4A-4A60-97F7-BE5B3EE5B2CE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0D62C-E7A3-7FF1-4012-20716835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65DE3-57D9-0A3F-12BA-D3BFE0A1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5BE0-66C4-4C96-A6E2-B562F0FB614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6432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C8C5F-8A2E-CF4A-54F9-ADA858034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E4473-6653-290E-7F67-01F060E29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5380C-5156-BFA1-A6C5-104907F2F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55BC6-4C4A-4A60-97F7-BE5B3EE5B2CE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E03C5-D5FA-4436-D361-510A14432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C7908-D567-1D1C-DBA3-64321254C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45BE0-66C4-4C96-A6E2-B562F0FB614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93640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B0CD7-5637-0A49-574F-83592EE59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404" y="760876"/>
            <a:ext cx="11100021" cy="66339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ANALYSIS DASHBOARD</a:t>
            </a:r>
            <a:endParaRPr lang="en-NG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E1E43-0785-620B-B20E-5F2A17894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9414" y="1924296"/>
            <a:ext cx="9144000" cy="50878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BUSINESS INTELLIGENCE PROJECT</a:t>
            </a:r>
            <a:endParaRPr lang="en-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49ECEF2-AA49-FC0C-D8BD-82A84B3D2EA6}"/>
              </a:ext>
            </a:extLst>
          </p:cNvPr>
          <p:cNvSpPr txBox="1">
            <a:spLocks/>
          </p:cNvSpPr>
          <p:nvPr/>
        </p:nvSpPr>
        <p:spPr>
          <a:xfrm>
            <a:off x="1619414" y="4496669"/>
            <a:ext cx="9144000" cy="1488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QUERY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DAX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  <a:endParaRPr lang="en-NG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F7D0BEA-8B14-C9F3-9386-B9505D99F0A5}"/>
              </a:ext>
            </a:extLst>
          </p:cNvPr>
          <p:cNvSpPr txBox="1">
            <a:spLocks/>
          </p:cNvSpPr>
          <p:nvPr/>
        </p:nvSpPr>
        <p:spPr>
          <a:xfrm>
            <a:off x="1619414" y="2490083"/>
            <a:ext cx="9144000" cy="1488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ONWUSA, CHUKWUDI</a:t>
            </a:r>
            <a:endParaRPr lang="en-NG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652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4BA9-2CA8-D0C1-DB0B-3685EF76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64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N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2CDAE-9FD4-3E4D-2AB9-2CBE8F9EE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7768"/>
            <a:ext cx="10515600" cy="533532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marL="0" indent="0" algn="just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analyses sales transactions to evaluate business performance, customer behaviour, product profitability, and order trends.</a:t>
            </a:r>
          </a:p>
          <a:p>
            <a:pPr marL="0" indent="0" algn="just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transform raw sales data into actionable insights that support data driven decision-making.</a:t>
            </a:r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analysis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Analysis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Analysis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Analysis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Analysis</a:t>
            </a:r>
            <a:endParaRPr lang="en-N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475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4BA9-2CA8-D0C1-DB0B-3685EF76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64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N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2CDAE-9FD4-3E4D-2AB9-2CBE8F9EE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17768"/>
            <a:ext cx="11088757" cy="533532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SUMMARY				DATA MODEL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FIELDS</a:t>
            </a:r>
          </a:p>
          <a:p>
            <a:pPr algn="just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date</a:t>
            </a:r>
          </a:p>
          <a:p>
            <a:pPr algn="just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  <a:p>
            <a:pPr algn="just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</a:p>
          <a:p>
            <a:pPr algn="just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</a:p>
          <a:p>
            <a:pPr algn="just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algn="just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0CA1D7-CB46-B9FA-75FF-CFB2FA0D9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05319"/>
              </p:ext>
            </p:extLst>
          </p:nvPr>
        </p:nvGraphicFramePr>
        <p:xfrm>
          <a:off x="789090" y="2325947"/>
          <a:ext cx="2902225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899">
                  <a:extLst>
                    <a:ext uri="{9D8B030D-6E8A-4147-A177-3AD203B41FA5}">
                      <a16:colId xmlns:a16="http://schemas.microsoft.com/office/drawing/2014/main" val="2539908171"/>
                    </a:ext>
                  </a:extLst>
                </a:gridCol>
                <a:gridCol w="1207326">
                  <a:extLst>
                    <a:ext uri="{9D8B030D-6E8A-4147-A177-3AD203B41FA5}">
                      <a16:colId xmlns:a16="http://schemas.microsoft.com/office/drawing/2014/main" val="2263771060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NG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NG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273636"/>
                  </a:ext>
                </a:extLst>
              </a:tr>
              <a:tr h="29003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Records</a:t>
                      </a:r>
                      <a:endParaRPr lang="en-NG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9,774</a:t>
                      </a:r>
                      <a:endParaRPr lang="en-NG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959414"/>
                  </a:ext>
                </a:extLst>
              </a:tr>
              <a:tr h="29003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Revenue</a:t>
                      </a:r>
                      <a:endParaRPr lang="en-NG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2,287,322.33</a:t>
                      </a:r>
                      <a:endParaRPr lang="en-NG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073342"/>
                  </a:ext>
                </a:extLst>
              </a:tr>
              <a:tr h="29003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Profit</a:t>
                      </a:r>
                      <a:endParaRPr lang="en-NG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284,462.62</a:t>
                      </a:r>
                      <a:endParaRPr lang="en-NG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294116"/>
                  </a:ext>
                </a:extLst>
              </a:tr>
              <a:tr h="29003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Customers</a:t>
                      </a:r>
                      <a:endParaRPr lang="en-NG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4,865</a:t>
                      </a:r>
                      <a:endParaRPr lang="en-NG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69342"/>
                  </a:ext>
                </a:extLst>
              </a:tr>
              <a:tr h="29003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Products</a:t>
                      </a:r>
                      <a:endParaRPr lang="en-NG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1,850</a:t>
                      </a:r>
                      <a:endParaRPr lang="en-NG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323636"/>
                  </a:ext>
                </a:extLst>
              </a:tr>
              <a:tr h="29003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Orders</a:t>
                      </a:r>
                      <a:endParaRPr lang="en-NG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4,961</a:t>
                      </a:r>
                      <a:endParaRPr lang="en-NG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771070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02E38B-FFA2-0980-5B8C-5319364E0DBC}"/>
              </a:ext>
            </a:extLst>
          </p:cNvPr>
          <p:cNvCxnSpPr>
            <a:cxnSpLocks/>
          </p:cNvCxnSpPr>
          <p:nvPr/>
        </p:nvCxnSpPr>
        <p:spPr>
          <a:xfrm>
            <a:off x="3943847" y="834887"/>
            <a:ext cx="0" cy="5960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FB1051-6D28-85A2-7D19-E9F077B1C9A8}"/>
              </a:ext>
            </a:extLst>
          </p:cNvPr>
          <p:cNvCxnSpPr/>
          <p:nvPr/>
        </p:nvCxnSpPr>
        <p:spPr>
          <a:xfrm>
            <a:off x="644056" y="4444779"/>
            <a:ext cx="32997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660C84E-31E7-529B-13C6-0A896C466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990" y="1414139"/>
            <a:ext cx="7838075" cy="42074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47F70EE-5369-9BD2-DEBA-9A45358E95AC}"/>
              </a:ext>
            </a:extLst>
          </p:cNvPr>
          <p:cNvSpPr txBox="1"/>
          <p:nvPr/>
        </p:nvSpPr>
        <p:spPr>
          <a:xfrm>
            <a:off x="789090" y="1258086"/>
            <a:ext cx="296061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was fetched as a flat table, but later disintegrated into two 3 dimension table product, customer and order, and 1 fact table – sales table. Then merged integrated back using relationship of pk and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263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34860-9457-F833-07DD-E3E88514B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lang="en-N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3EA52-FE58-E0FD-BA88-F244E8E65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7280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QUESTIONS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wants to understand</a:t>
            </a:r>
          </a:p>
          <a:p>
            <a:pPr marL="269875" indent="-269875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overall sales performance?</a:t>
            </a:r>
          </a:p>
          <a:p>
            <a:pPr marL="269875" indent="-269875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most valuable customers?</a:t>
            </a:r>
          </a:p>
          <a:p>
            <a:pPr marL="269875" indent="-269875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product(s) drive revenue and customers?</a:t>
            </a:r>
          </a:p>
          <a:p>
            <a:pPr marL="269875" indent="-269875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are orders being fulfilled?</a:t>
            </a:r>
          </a:p>
          <a:p>
            <a:pPr marL="269875" indent="-269875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has performance changed over time?</a:t>
            </a:r>
          </a:p>
          <a:p>
            <a:pPr marL="269875" indent="-269875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areas requires management attention?</a:t>
            </a: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dashboard for monitoring business performance and identifying growth opportunities.</a:t>
            </a:r>
          </a:p>
          <a:p>
            <a:pPr>
              <a:buFontTx/>
              <a:buChar char="-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Overview: showing how the business is doing.</a:t>
            </a:r>
          </a:p>
          <a:p>
            <a:pPr>
              <a:buFontTx/>
              <a:buChar char="-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Customers: showing who are buying.</a:t>
            </a:r>
          </a:p>
          <a:p>
            <a:pPr>
              <a:buFontTx/>
              <a:buChar char="-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Products: Showing what is selling.</a:t>
            </a:r>
          </a:p>
          <a:p>
            <a:pPr>
              <a:buFontTx/>
              <a:buChar char="-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Order: Showing how are orders been fulfilled.</a:t>
            </a:r>
          </a:p>
        </p:txBody>
      </p:sp>
    </p:spTree>
    <p:extLst>
      <p:ext uri="{BB962C8B-B14F-4D97-AF65-F5344CB8AC3E}">
        <p14:creationId xmlns:p14="http://schemas.microsoft.com/office/powerpoint/2010/main" val="2712719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E6F99-EF57-793A-CE4D-EB2297A0C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64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 DEFINED</a:t>
            </a:r>
            <a:endParaRPr lang="en-N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A0BA25-8BB2-DB2F-4864-008C18D19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4730556"/>
              </p:ext>
            </p:extLst>
          </p:nvPr>
        </p:nvGraphicFramePr>
        <p:xfrm>
          <a:off x="763325" y="1205424"/>
          <a:ext cx="382457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186">
                  <a:extLst>
                    <a:ext uri="{9D8B030D-6E8A-4147-A177-3AD203B41FA5}">
                      <a16:colId xmlns:a16="http://schemas.microsoft.com/office/drawing/2014/main" val="560471332"/>
                    </a:ext>
                  </a:extLst>
                </a:gridCol>
                <a:gridCol w="2385392">
                  <a:extLst>
                    <a:ext uri="{9D8B030D-6E8A-4147-A177-3AD203B41FA5}">
                      <a16:colId xmlns:a16="http://schemas.microsoft.com/office/drawing/2014/main" val="4084573593"/>
                    </a:ext>
                  </a:extLst>
                </a:gridCol>
              </a:tblGrid>
              <a:tr h="26746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OVERVIEW KPIS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123561"/>
                  </a:ext>
                </a:extLst>
              </a:tr>
              <a:tr h="26746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Transaction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unique no of transaction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941306"/>
                  </a:ext>
                </a:extLst>
              </a:tr>
              <a:tr h="26746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Revenue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revenue generated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247463"/>
                  </a:ext>
                </a:extLst>
              </a:tr>
              <a:tr h="26746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Profit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 less cost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932178"/>
                  </a:ext>
                </a:extLst>
              </a:tr>
              <a:tr h="42115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 Margin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% the business retains as profit for every single money spent.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054937"/>
                  </a:ext>
                </a:extLst>
              </a:tr>
              <a:tr h="26746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Customers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unique no of customers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395424"/>
                  </a:ext>
                </a:extLst>
              </a:tr>
              <a:tr h="26746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Product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unique no of products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75973"/>
                  </a:ext>
                </a:extLst>
              </a:tr>
              <a:tr h="26746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Order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unique no of orders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557189"/>
                  </a:ext>
                </a:extLst>
              </a:tr>
              <a:tr h="42115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Order Value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list amount a customer spends on a single order.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827339"/>
                  </a:ext>
                </a:extLst>
              </a:tr>
              <a:tr h="42115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MOM, YOY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 Over Month and Month of Month for Revenue, Profit, order and customers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69663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132DAC-6A60-EDA2-4F0A-1DD96C20EA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6867258"/>
              </p:ext>
            </p:extLst>
          </p:nvPr>
        </p:nvGraphicFramePr>
        <p:xfrm>
          <a:off x="5371770" y="1205424"/>
          <a:ext cx="4037938" cy="235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972">
                  <a:extLst>
                    <a:ext uri="{9D8B030D-6E8A-4147-A177-3AD203B41FA5}">
                      <a16:colId xmlns:a16="http://schemas.microsoft.com/office/drawing/2014/main" val="560471332"/>
                    </a:ext>
                  </a:extLst>
                </a:gridCol>
                <a:gridCol w="2351966">
                  <a:extLst>
                    <a:ext uri="{9D8B030D-6E8A-4147-A177-3AD203B41FA5}">
                      <a16:colId xmlns:a16="http://schemas.microsoft.com/office/drawing/2014/main" val="4084573593"/>
                    </a:ext>
                  </a:extLst>
                </a:gridCol>
              </a:tblGrid>
              <a:tr h="2503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KPIS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123561"/>
                  </a:ext>
                </a:extLst>
              </a:tr>
              <a:tr h="2503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Repeat customers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Customers that repeated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941306"/>
                  </a:ext>
                </a:extLst>
              </a:tr>
              <a:tr h="2503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Unrepeated customers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Customers that purchased only once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247463"/>
                  </a:ext>
                </a:extLst>
              </a:tr>
              <a:tr h="2503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RCR (Repeat Customer Rate)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rate at which customers repeats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932178"/>
                  </a:ext>
                </a:extLst>
              </a:tr>
              <a:tr h="34508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ARPC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Revenue per Customer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054937"/>
                  </a:ext>
                </a:extLst>
              </a:tr>
              <a:tr h="2503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APPC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profit per Customer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395424"/>
                  </a:ext>
                </a:extLst>
              </a:tr>
              <a:tr h="2503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CRR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Retention Rate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25307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662224C6-C8DA-15C3-043F-27A7408312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0080914"/>
              </p:ext>
            </p:extLst>
          </p:nvPr>
        </p:nvGraphicFramePr>
        <p:xfrm>
          <a:off x="763325" y="4803700"/>
          <a:ext cx="4037938" cy="1677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972">
                  <a:extLst>
                    <a:ext uri="{9D8B030D-6E8A-4147-A177-3AD203B41FA5}">
                      <a16:colId xmlns:a16="http://schemas.microsoft.com/office/drawing/2014/main" val="560471332"/>
                    </a:ext>
                  </a:extLst>
                </a:gridCol>
                <a:gridCol w="2351966">
                  <a:extLst>
                    <a:ext uri="{9D8B030D-6E8A-4147-A177-3AD203B41FA5}">
                      <a16:colId xmlns:a16="http://schemas.microsoft.com/office/drawing/2014/main" val="4084573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 KPIS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123561"/>
                  </a:ext>
                </a:extLst>
              </a:tr>
              <a:tr h="234089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Quantity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quantity ordered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941306"/>
                  </a:ext>
                </a:extLst>
              </a:tr>
              <a:tr h="24727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Items per order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Items per order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247463"/>
                  </a:ext>
                </a:extLst>
              </a:tr>
              <a:tr h="234089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order per value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order per value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932178"/>
                  </a:ext>
                </a:extLst>
              </a:tr>
              <a:tr h="30637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order value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Lowest amount spent per order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054937"/>
                  </a:ext>
                </a:extLst>
              </a:tr>
              <a:tr h="234089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Purchasing frequency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often customers buy things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395424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78A1A80-3F08-F023-F998-BAB0CFEB60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4466821"/>
              </p:ext>
            </p:extLst>
          </p:nvPr>
        </p:nvGraphicFramePr>
        <p:xfrm>
          <a:off x="5371770" y="3953982"/>
          <a:ext cx="4037938" cy="2023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972">
                  <a:extLst>
                    <a:ext uri="{9D8B030D-6E8A-4147-A177-3AD203B41FA5}">
                      <a16:colId xmlns:a16="http://schemas.microsoft.com/office/drawing/2014/main" val="560471332"/>
                    </a:ext>
                  </a:extLst>
                </a:gridCol>
                <a:gridCol w="2351966">
                  <a:extLst>
                    <a:ext uri="{9D8B030D-6E8A-4147-A177-3AD203B41FA5}">
                      <a16:colId xmlns:a16="http://schemas.microsoft.com/office/drawing/2014/main" val="4084573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KPIS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123561"/>
                  </a:ext>
                </a:extLst>
              </a:tr>
              <a:tr h="2503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product category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product category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941306"/>
                  </a:ext>
                </a:extLst>
              </a:tr>
              <a:tr h="2503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product sub category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product sub category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247463"/>
                  </a:ext>
                </a:extLst>
              </a:tr>
              <a:tr h="2503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Repeat products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Products purchased  &gt; 1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932178"/>
                  </a:ext>
                </a:extLst>
              </a:tr>
              <a:tr h="46937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Un-repeat products Margin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Products purchase &lt; 2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054937"/>
                  </a:ext>
                </a:extLst>
              </a:tr>
              <a:tr h="2503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Category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product category by revenue</a:t>
                      </a:r>
                      <a:endParaRPr lang="en-NG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75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66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8486-40E0-88D2-025D-DAA5B9A1E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625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SCREENSHORTS</a:t>
            </a:r>
            <a:endParaRPr lang="en-N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7719A-B683-681D-5347-634E0C7A11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33" y="1311219"/>
            <a:ext cx="3578087" cy="18816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0B53E3-FB4E-F0B9-E00B-6E4BEE5F66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60" y="1313725"/>
            <a:ext cx="3749597" cy="19583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9A796D-25D2-199C-43EB-A972CDAA9D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547" y="3818194"/>
            <a:ext cx="3578087" cy="18850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ECA06A-F68A-EF6C-FCD2-BBCD2F341E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33" y="3818194"/>
            <a:ext cx="3536268" cy="18816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E1CD6C-F21E-58F4-A2F9-3ABA6E5D90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60" y="3818194"/>
            <a:ext cx="3749597" cy="20551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6BAD49-A842-5804-9B54-2B775AD02B99}"/>
              </a:ext>
            </a:extLst>
          </p:cNvPr>
          <p:cNvSpPr txBox="1"/>
          <p:nvPr/>
        </p:nvSpPr>
        <p:spPr>
          <a:xfrm>
            <a:off x="699713" y="941887"/>
            <a:ext cx="2592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N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359E8C-659B-B9DD-7C2F-557106B4B639}"/>
              </a:ext>
            </a:extLst>
          </p:cNvPr>
          <p:cNvSpPr txBox="1"/>
          <p:nvPr/>
        </p:nvSpPr>
        <p:spPr>
          <a:xfrm>
            <a:off x="4682377" y="1040687"/>
            <a:ext cx="2592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VIEW</a:t>
            </a:r>
            <a:endParaRPr lang="en-N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7CB84B-BFA5-1C51-7979-2E60F249C447}"/>
              </a:ext>
            </a:extLst>
          </p:cNvPr>
          <p:cNvSpPr txBox="1"/>
          <p:nvPr/>
        </p:nvSpPr>
        <p:spPr>
          <a:xfrm>
            <a:off x="8908110" y="3520212"/>
            <a:ext cx="2592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VIEW</a:t>
            </a:r>
            <a:endParaRPr lang="en-N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5DA8DA-CA5A-AF01-21D2-EDBBEEF3290F}"/>
              </a:ext>
            </a:extLst>
          </p:cNvPr>
          <p:cNvSpPr txBox="1"/>
          <p:nvPr/>
        </p:nvSpPr>
        <p:spPr>
          <a:xfrm>
            <a:off x="8761675" y="1074191"/>
            <a:ext cx="2592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VIEW</a:t>
            </a:r>
            <a:endParaRPr lang="en-N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8D442E-A7AD-ECDA-7E86-FE6FDBC48959}"/>
              </a:ext>
            </a:extLst>
          </p:cNvPr>
          <p:cNvSpPr txBox="1"/>
          <p:nvPr/>
        </p:nvSpPr>
        <p:spPr>
          <a:xfrm>
            <a:off x="601647" y="3526612"/>
            <a:ext cx="2977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SHIPPMENT INTERATIVENESS</a:t>
            </a:r>
            <a:endParaRPr lang="en-N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C75EFC-15E3-1B1B-A0B4-69D312F0A0E2}"/>
              </a:ext>
            </a:extLst>
          </p:cNvPr>
          <p:cNvSpPr txBox="1"/>
          <p:nvPr/>
        </p:nvSpPr>
        <p:spPr>
          <a:xfrm>
            <a:off x="4196962" y="3526611"/>
            <a:ext cx="2977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SHIPPMENT INTERATIVENESS</a:t>
            </a:r>
            <a:endParaRPr lang="en-N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CE696E6-E600-1CB1-9E99-70F8BB84D1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640" y="1320518"/>
            <a:ext cx="3749597" cy="195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863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1E1B4-9A52-A2D8-9BB6-0C24D61E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337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N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922CE-F597-5294-6790-07275C616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8497"/>
            <a:ext cx="10515600" cy="53284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Overview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business generated ₹2.29M in revenue and ₹284.46K in profit, achieving a healthy 12.44% profit margin, well above the typical retail benchmark of 2–5%.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Business performance is highly seasonal, with revenue and profit peaking during the October–December festive period.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Technology was the strongest-performing category, contributing 36.53% of revenue and 51.23% of total profit.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Analysis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Revenue is driven more by customer spending power than customer volume, as Technology generated the highest sales despite having the lowest customer count.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Customer retention is low, with a Repeat Customer Rate of only 1.93%.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 of 4,865 customers, 98.07% purchased only once, indicating strong reliance on new customer acquisition.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Analysis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Revenue and profit are concentrated among a small number of high-performing products.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92 products were purchased only once, suggesting opportunities for inventory optimization and product rationalization.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&amp; Shipment Analysis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Order and shipment volumes increase together, indicating efficient operational scalability.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Customers overwhelmingly prefer Standard Class shipping, highlighting a preference for cost-effective delivery options.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Prioritize investment in Technology products due to their superior revenue and profit contribution.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Implement customer loyalty and retention strategies to increase repeat purchases.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Review low-performing products and optimize inventory allocation toward high-demand items.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Prepare inventory and logistics resources ahead of peak seasonal periods.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Expand successful sales strategies from top-performing regions into underperforming markets.</a:t>
            </a:r>
          </a:p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Continue optimizing Standard Class shipping to maintain cost efficiency and customer satisfaction.</a:t>
            </a:r>
            <a:endParaRPr lang="en-NG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389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2757C-D860-595D-410E-ECA14D6EB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98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N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2D23A-9658-BFF2-1772-B7EA17E19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665" y="962109"/>
            <a:ext cx="10515600" cy="2724012"/>
          </a:xfrm>
        </p:spPr>
        <p:txBody>
          <a:bodyPr>
            <a:norm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Challenges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Missing values, inconsistent datatype, duplicate value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Modelling Challenges</a:t>
            </a:r>
          </a:p>
          <a:p>
            <a:pPr marL="898525" indent="-898525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Building a star schema, managing date dimension ( active and inactive relationship for shipping and ordered date), DAX calculation</a:t>
            </a:r>
          </a:p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in power query and Excel,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 Table Creation,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optimization, and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intelligence Measure</a:t>
            </a:r>
            <a:endParaRPr lang="en-NG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F9C698-E4B5-AD0C-FD3D-D3CB637014EE}"/>
              </a:ext>
            </a:extLst>
          </p:cNvPr>
          <p:cNvSpPr txBox="1">
            <a:spLocks/>
          </p:cNvSpPr>
          <p:nvPr/>
        </p:nvSpPr>
        <p:spPr>
          <a:xfrm>
            <a:off x="750735" y="3686120"/>
            <a:ext cx="10515600" cy="5969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N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181A8E1-E507-C34E-9C46-71D4C7234C9D}"/>
              </a:ext>
            </a:extLst>
          </p:cNvPr>
          <p:cNvSpPr txBox="1">
            <a:spLocks/>
          </p:cNvSpPr>
          <p:nvPr/>
        </p:nvSpPr>
        <p:spPr>
          <a:xfrm>
            <a:off x="750735" y="2625256"/>
            <a:ext cx="10515600" cy="3140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G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9D423E-6F66-45CF-9A2C-7E067B30B96D}"/>
              </a:ext>
            </a:extLst>
          </p:cNvPr>
          <p:cNvSpPr txBox="1">
            <a:spLocks/>
          </p:cNvSpPr>
          <p:nvPr/>
        </p:nvSpPr>
        <p:spPr>
          <a:xfrm>
            <a:off x="750735" y="4195638"/>
            <a:ext cx="10515600" cy="22972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successfully transformed raw transactional records into meaningful business insight, providing a scalable and intelligent dashboard that enables management to monitor performances, identify opportunities, and make informed strategic decisions.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visibility into sales performance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customer behavior understanding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product profitability Analysis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decision-making through interactive reporting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500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881</Words>
  <Application>Microsoft Office PowerPoint</Application>
  <PresentationFormat>Widescreen</PresentationFormat>
  <Paragraphs>175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SALES PERFORMANCE ANALYSIS DASHBOARD</vt:lpstr>
      <vt:lpstr>PROJECT OVERVIEW</vt:lpstr>
      <vt:lpstr>DATASET OVERVIEW</vt:lpstr>
      <vt:lpstr>BUSINESS PROBLEM</vt:lpstr>
      <vt:lpstr>KPIs DEFINED</vt:lpstr>
      <vt:lpstr>DASHBOARD SCREENSHORTS</vt:lpstr>
      <vt:lpstr>KEY INSIGHTS</vt:lpstr>
      <vt:lpstr>CHALLENGES FACED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Chukwudi Onwusa</dc:creator>
  <cp:lastModifiedBy>Chukwudi Onwusa</cp:lastModifiedBy>
  <cp:revision>50</cp:revision>
  <dcterms:created xsi:type="dcterms:W3CDTF">2026-06-04T15:33:49Z</dcterms:created>
  <dcterms:modified xsi:type="dcterms:W3CDTF">2026-06-04T20:14:58Z</dcterms:modified>
</cp:coreProperties>
</file>